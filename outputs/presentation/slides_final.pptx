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少量特徴量を用いた</a:t>
            </a:r>
          </a:p>
          <a:p>
            <a:r>
              <a:t>音声合成モデルの構築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音素カバレッジに着目したデータ量・学習時間の削減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発表者: 37_TK230037_國政蒼矢(くにまさそうや)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東京国際工科専門職大学 | 人工知能応用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発表日: 2025年12月18日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目次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1. 背景（従来手法の課題）</a:t>
            </a:r>
          </a:p>
          <a:p>
            <a:pPr>
              <a:defRPr sz="1800"/>
            </a:pPr>
            <a:r>
              <a:t>2. 目的</a:t>
            </a:r>
          </a:p>
          <a:p>
            <a:pPr>
              <a:defRPr sz="1800"/>
            </a:pPr>
            <a:r>
              <a:t>3. 方法</a:t>
            </a:r>
          </a:p>
          <a:p>
            <a:pPr>
              <a:defRPr sz="1800"/>
            </a:pPr>
            <a:r>
              <a:t>4. 結果（音素解析、全音素カバーコーパス、Fine-tuning時間、客観評価、音声合成）</a:t>
            </a:r>
          </a:p>
          <a:p>
            <a:pPr>
              <a:defRPr sz="1800"/>
            </a:pPr>
            <a:r>
              <a:t>5. 考察・今後の課題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背景：従来手法の課題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【課題1】大量データの必要性</a:t>
            </a:r>
          </a:p>
          <a:p>
            <a:pPr lvl="1">
              <a:defRPr sz="1800"/>
            </a:pPr>
            <a:r>
              <a:t>• 40分程度のデータでも「少量」と定義される</a:t>
            </a:r>
          </a:p>
          <a:p>
            <a:pPr lvl="1">
              <a:defRPr sz="1800"/>
            </a:pPr>
            <a:r>
              <a:t>• 100以上のコーパスで学習させるのが一般的</a:t>
            </a:r>
          </a:p>
          <a:p>
            <a:pPr lvl="1">
              <a:defRPr sz="1800"/>
            </a:pPr>
            <a:r>
              <a:t>• データ収集コストが高い</a:t>
            </a:r>
          </a:p>
          <a:p>
            <a:pPr lvl="2">
              <a:defRPr sz="1400" i="1"/>
            </a:pPr>
            <a:r>
              <a:t>引用: 令和4年3月 井上勝喜「深層学習に基づく感情音声合成のための少量データを用いた学習方式の研究」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【課題2】学習に時間がかかる</a:t>
            </a:r>
          </a:p>
          <a:p>
            <a:pPr lvl="1">
              <a:defRPr sz="1800"/>
            </a:pPr>
            <a:r>
              <a:t>• GPU環境でも数時間～数日必要</a:t>
            </a:r>
          </a:p>
          <a:p>
            <a:pPr lvl="1">
              <a:defRPr sz="1800"/>
            </a:pPr>
            <a:r>
              <a:t>• 1から構築では100文で約10時間以上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【アプローチ】特徴量（音素カバレッジ）に着目</a:t>
            </a:r>
          </a:p>
          <a:p>
            <a:pPr lvl="1">
              <a:defRPr sz="1800"/>
            </a:pPr>
            <a:r>
              <a:t>• 音素カバレッジを最大化することで、データ量を削減</a:t>
            </a:r>
          </a:p>
          <a:p>
            <a:pPr lvl="1">
              <a:defRPr sz="1800"/>
            </a:pPr>
            <a:r>
              <a:t>• Fine-tuningにより学習時間を短縮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【メインゴール】</a:t>
            </a:r>
          </a:p>
          <a:p>
            <a:pPr lvl="1">
              <a:defRPr sz="1800"/>
            </a:pPr>
            <a:r>
              <a:t>• 少量データで効率的にTTSモデルを構築するための必要最低限コーパスを設計する</a:t>
            </a:r>
          </a:p>
          <a:p>
            <a:pPr lvl="1">
              <a:defRPr sz="1800"/>
            </a:pPr>
            <a:r>
              <a:t>• 音素カバレッジに着目したデータ量削減の有効性を検証</a:t>
            </a:r>
          </a:p>
          <a:p>
            <a:pPr lvl="1">
              <a:defRPr sz="1800"/>
            </a:pPr>
            <a:r>
              <a:t>• Fine-tuningによる学習時間短縮の実現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【具体的達成目標】</a:t>
            </a:r>
          </a:p>
          <a:p>
            <a:pPr lvl="1">
              <a:defRPr sz="1800"/>
            </a:pPr>
            <a:r>
              <a:t>• コーパス設計：JVS parallel100（100文）から必要最小限の文セット抽出</a:t>
            </a:r>
          </a:p>
          <a:p>
            <a:pPr lvl="1">
              <a:defRPr sz="1800"/>
            </a:pPr>
            <a:r>
              <a:t>• 音素カバレッジの定量化：貪欲法により4文で全37音素をカバー</a:t>
            </a:r>
          </a:p>
          <a:p>
            <a:pPr lvl="1">
              <a:defRPr sz="1800"/>
            </a:pPr>
            <a:r>
              <a:t>• 削減効果の検証：「100文vs削減コーパス」で品質比較（MCD、log-F0 RMSE）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特徴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E1: 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データ量最大、分布的にバランス良い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E2: 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音素カバレッジ最大、データ量最小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E3: 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カバレッジ・分布ともに無作為（対照群）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E4: 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音素特徴量上位10文（情報量重視）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データ: JVS Corpus jvs002話者 parallel100（100文）</a:t>
            </a:r>
          </a:p>
          <a:p>
            <a:pPr>
              <a:defRPr sz="1400"/>
            </a:pPr>
            <a:r>
              <a:t>音素解析: pyopenjtalkによる音素抽出、37音素インベントリの確認</a:t>
            </a:r>
          </a:p>
          <a:p>
            <a:pPr>
              <a:defRPr sz="1400"/>
            </a:pPr>
            <a:r>
              <a:t>Fine-tuning: ESPnet2-TTS (Tacotron2), 10エポック</a:t>
            </a:r>
          </a:p>
          <a:p>
            <a:pPr>
              <a:defRPr sz="1400"/>
            </a:pPr>
            <a:r>
              <a:t>評価: MCD（音色類似度）、log-F0 RMSE（韻律誤差）、テストセット18文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結果：音素解析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音素インベントリ</a:t>
            </a:r>
          </a:p>
          <a:p>
            <a:pPr lvl="1">
              <a:defRPr sz="1800"/>
            </a:pPr>
            <a:r>
              <a:t>• 100コーパス中、合計38音素（pau含む）を確認</a:t>
            </a:r>
          </a:p>
          <a:p>
            <a:pPr lvl="1">
              <a:defRPr sz="1800"/>
            </a:pPr>
            <a:r>
              <a:t>• 最も多い音素: o（987回）</a:t>
            </a:r>
          </a:p>
          <a:p>
            <a:pPr lvl="1">
              <a:defRPr sz="1800"/>
            </a:pPr>
            <a:r>
              <a:t>• 最も少ない音素: ny（29回）</a:t>
            </a:r>
          </a:p>
          <a:p>
            <a:pPr>
              <a:defRPr sz="1200"/>
            </a:pPr>
          </a:p>
          <a:p>
            <a:pPr>
              <a:defRPr sz="2000" b="1"/>
            </a:pPr>
            <a:r>
              <a:t>音素頻度 Top 10</a:t>
            </a:r>
          </a:p>
          <a:p>
            <a:pPr lvl="1">
              <a:defRPr sz="1600"/>
            </a:pPr>
            <a:r>
              <a:t>1. o: 987回</a:t>
            </a:r>
          </a:p>
          <a:p>
            <a:pPr lvl="1">
              <a:defRPr sz="1600"/>
            </a:pPr>
            <a:r>
              <a:t>2. a: 899回</a:t>
            </a:r>
          </a:p>
          <a:p>
            <a:pPr lvl="1">
              <a:defRPr sz="1600"/>
            </a:pPr>
            <a:r>
              <a:t>3. u: 740回</a:t>
            </a:r>
          </a:p>
          <a:p>
            <a:pPr lvl="1">
              <a:defRPr sz="1600"/>
            </a:pPr>
            <a:r>
              <a:t>4. i: 641回</a:t>
            </a:r>
          </a:p>
          <a:p>
            <a:pPr lvl="1">
              <a:defRPr sz="1600"/>
            </a:pPr>
            <a:r>
              <a:t>5. e: 546回</a:t>
            </a:r>
          </a:p>
          <a:p>
            <a:pPr lvl="1">
              <a:defRPr sz="1600"/>
            </a:pPr>
            <a:r>
              <a:t>6. k: 353回</a:t>
            </a:r>
          </a:p>
          <a:p>
            <a:pPr lvl="1">
              <a:defRPr sz="1600"/>
            </a:pPr>
            <a:r>
              <a:t>7. r: 328回</a:t>
            </a:r>
          </a:p>
          <a:p>
            <a:pPr lvl="1">
              <a:defRPr sz="1600"/>
            </a:pPr>
            <a:r>
              <a:t>8. t: 309回</a:t>
            </a:r>
          </a:p>
          <a:p>
            <a:pPr lvl="1">
              <a:defRPr sz="1600"/>
            </a:pPr>
            <a:r>
              <a:t>9. n: 305回</a:t>
            </a:r>
          </a:p>
          <a:p>
            <a:pPr lvl="1">
              <a:defRPr sz="1600"/>
            </a:pPr>
            <a:r>
              <a:t>10. pau: 273回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結果：全音素(37音)カバーコーパス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貪欲法による4文での全音素カバー</a:t>
            </a:r>
          </a:p>
          <a:p>
            <a:pPr lvl="1">
              <a:defRPr sz="1800"/>
            </a:pPr>
            <a:r>
              <a:t>• 1コーパス目で84%</a:t>
            </a:r>
          </a:p>
          <a:p>
            <a:pPr lvl="1">
              <a:defRPr sz="1800"/>
            </a:pPr>
            <a:r>
              <a:t>• 2コーパス目で92%</a:t>
            </a:r>
          </a:p>
          <a:p>
            <a:pPr lvl="1">
              <a:defRPr sz="1800"/>
            </a:pPr>
            <a:r>
              <a:t>• 3コーパス目で97%</a:t>
            </a:r>
          </a:p>
          <a:p>
            <a:pPr lvl="1">
              <a:defRPr sz="1800"/>
            </a:pPr>
            <a:r>
              <a:t>• 4コーパスで100%カバー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データ量削減効果</a:t>
            </a:r>
          </a:p>
          <a:p>
            <a:pPr lvl="1">
              <a:defRPr sz="1800"/>
            </a:pPr>
            <a:r>
              <a:t>• 4文で全37音素をカバーできることを確認</a:t>
            </a:r>
          </a:p>
          <a:p>
            <a:pPr lvl="1">
              <a:defRPr sz="1800" b="1"/>
            </a:pPr>
            <a:r>
              <a:t>• データ量を96%削減（100文→4文）しながら全音素をカバー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結果：Fine-tuning時間比較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学習時間（10エポック）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約37分40秒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約45分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約37分46秒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約56分9秒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1から構築との比較</a:t>
            </a:r>
          </a:p>
          <a:p>
            <a:pPr>
              <a:defRPr sz="1600"/>
            </a:pPr>
            <a:r>
              <a:t>• 1から構築（100文で約10時間以上）と比較して大幅に短縮</a:t>
            </a:r>
          </a:p>
          <a:p>
            <a:pPr>
              <a:defRPr sz="1600" b="1"/>
            </a:pPr>
            <a:r>
              <a:t>• Fine-tuningにより学習時間を約93%削減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評価指標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MCD (Mel-Cepstral Distortion)</a:t>
            </a:r>
          </a:p>
          <a:p>
            <a:pPr lvl="1">
              <a:defRPr sz="1800"/>
            </a:pPr>
            <a:r>
              <a:t>• スペクトル類似度を測定（低いほど良い）</a:t>
            </a:r>
          </a:p>
          <a:p>
            <a:pPr lvl="2">
              <a:defRPr sz="1600"/>
            </a:pPr>
            <a:r>
              <a:t>• 単位: dB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log-F0 RMSE</a:t>
            </a:r>
          </a:p>
          <a:p>
            <a:pPr lvl="1">
              <a:defRPr sz="1800"/>
            </a:pPr>
            <a:r>
              <a:t>• ピッチ輪郭（基本周波数）の誤差を測定（低いほど良い）</a:t>
            </a:r>
          </a:p>
          <a:p>
            <a:pPr lvl="2">
              <a:defRPr sz="1600"/>
            </a:pPr>
            <a:r>
              <a:t>• DTWアライメントを使用</a:t>
            </a:r>
          </a:p>
          <a:p>
            <a:pPr>
              <a:defRPr sz="1200"/>
            </a:pPr>
          </a:p>
          <a:p>
            <a:pPr>
              <a:defRPr sz="1800" i="1"/>
            </a:pPr>
            <a:r>
              <a:t>テストセット: 18文（全条件共通）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実験結果 - MCD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MCD (dB)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5.049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5.227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5.266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5.102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mc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解釈: データ量が多いほど品質が向上（80文: 5.049 dB &lt; 4文: 5.227-5.266 dB）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実験結果 - log-F0 RMSE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3200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条件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log-F0 RMSE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80文コーパス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0.2573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37音素4文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0.3364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ランダム4文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0.3296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上位10文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0.2646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0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3891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解釈: 10エポックでは中間的な音程に収束（完全な話者適応には不十分）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実験結果 - 可視化</a:t>
            </a:r>
          </a:p>
        </p:txBody>
      </p:sp>
      <p:pic>
        <p:nvPicPr>
          <p:cNvPr id="4" name="Picture 3" descr="coverage_vs_m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200400"/>
          </a:xfrm>
          <a:prstGeom prst="rect">
            <a:avLst/>
          </a:prstGeom>
        </p:spPr>
      </p:pic>
      <p:pic>
        <p:nvPicPr>
          <p:cNvPr id="5" name="Picture 4" descr="datasize_vs_m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結果：音声合成（主観評価用）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各条件の合成音声を比較</a:t>
            </a:r>
          </a:p>
          <a:p>
            <a:pPr lvl="1">
              <a:defRPr sz="1600" i="1"/>
            </a:pPr>
            <a:r>
              <a:t>テキスト: 「スマートフォンから、フィーチャーフォンまで、マルチデバイスに対応。」</a:t>
            </a:r>
          </a:p>
          <a:p>
            <a:pPr>
              <a:defRPr sz="1200"/>
            </a:pPr>
          </a:p>
          <a:p>
            <a:pPr lvl="1">
              <a:defRPr sz="1800"/>
            </a:pPr>
            <a:r>
              <a:t>• ベースライン（事前学習モデル）</a:t>
            </a:r>
          </a:p>
          <a:p>
            <a:pPr lvl="2">
              <a:defRPr sz="1400" i="1"/>
            </a:pPr>
            <a:r>
              <a:t>  ファイル: baseline/VOICEACTRESS100_010.wav</a:t>
            </a:r>
          </a:p>
          <a:p>
            <a:pPr lvl="1">
              <a:defRPr sz="1800"/>
            </a:pPr>
            <a:r>
              <a:t>• 80文コーパス</a:t>
            </a:r>
          </a:p>
          <a:p>
            <a:pPr lvl="2">
              <a:defRPr sz="1400" i="1"/>
            </a:pPr>
            <a:r>
              <a:t>  ファイル: train_80sent/VOICEACTRESS100_010.wav</a:t>
            </a:r>
          </a:p>
          <a:p>
            <a:pPr lvl="1">
              <a:defRPr sz="1800"/>
            </a:pPr>
            <a:r>
              <a:t>• 37音素4文</a:t>
            </a:r>
          </a:p>
          <a:p>
            <a:pPr lvl="2">
              <a:defRPr sz="1400" i="1"/>
            </a:pPr>
            <a:r>
              <a:t>  ファイル: train_4sent_37phonemes/VOICEACTRESS100_010.wav</a:t>
            </a:r>
          </a:p>
          <a:p>
            <a:pPr lvl="1">
              <a:defRPr sz="1800"/>
            </a:pPr>
            <a:r>
              <a:t>• ランダム4文</a:t>
            </a:r>
          </a:p>
          <a:p>
            <a:pPr lvl="2">
              <a:defRPr sz="1400" i="1"/>
            </a:pPr>
            <a:r>
              <a:t>  ファイル: train_4sent_random/VOICEACTRESS100_010.wav</a:t>
            </a:r>
          </a:p>
          <a:p>
            <a:pPr lvl="1">
              <a:defRPr sz="1800"/>
            </a:pPr>
            <a:r>
              <a:t>• 上位10文</a:t>
            </a:r>
          </a:p>
          <a:p>
            <a:pPr lvl="2">
              <a:defRPr sz="1400" i="1"/>
            </a:pPr>
            <a:r>
              <a:t>  ファイル: train_10sent_top/VOICEACTRESS100_010.wav</a:t>
            </a:r>
          </a:p>
          <a:p>
            <a:pPr>
              <a:defRPr sz="1200"/>
            </a:pPr>
          </a:p>
          <a:p>
            <a:pPr>
              <a:defRPr sz="1400" i="1">
                <a:solidFill>
                  <a:srgbClr val="969696"/>
                </a:solidFill>
              </a:defRPr>
            </a:pPr>
            <a:r>
              <a:t>※ 音声ファイルは手動でPowerPointに埋め込んでください</a:t>
            </a:r>
          </a:p>
          <a:p>
            <a:pPr>
              <a:defRPr sz="1600" b="1"/>
            </a:pPr>
            <a:r>
              <a:t>聴衆に主観評価を依頼（自然さ、話者類似度など）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考察（1）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10エポックの限界</a:t>
            </a:r>
          </a:p>
          <a:p>
            <a:pPr lvl="1">
              <a:defRPr sz="1800"/>
            </a:pPr>
            <a:r>
              <a:t>• log-F0 RMSEの結果から、10エポックでは完全な話者適応には不十分</a:t>
            </a:r>
          </a:p>
          <a:p>
            <a:pPr lvl="2">
              <a:defRPr sz="1600"/>
            </a:pPr>
            <a:r>
              <a:t>• ベースラインモデル（高音）とターゲット話者（低音）の中間的な音程に収束</a:t>
            </a:r>
          </a:p>
          <a:p>
            <a:pPr lvl="2">
              <a:defRPr sz="1600"/>
            </a:pPr>
            <a:r>
              <a:t>• 完全な話者適応には、20-50エポック以上の学習が必要と推測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音素カバレッジとデータ量の関係</a:t>
            </a:r>
          </a:p>
          <a:p>
            <a:pPr lvl="1">
              <a:defRPr sz="1800"/>
            </a:pPr>
            <a:r>
              <a:t>• 音素カバレッジ100%でも、データ量が少ない（4文）場合は品質が低下</a:t>
            </a:r>
          </a:p>
          <a:p>
            <a:pPr lvl="2">
              <a:defRPr sz="1600"/>
            </a:pPr>
            <a:r>
              <a:t>• 37音素4文（MCD=5.227 dB）とランダム4文（MCD=5.266 dB）の差は小さい（約0.04 dB）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考察（続き）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データ量と品質のバランス</a:t>
            </a:r>
          </a:p>
          <a:p>
            <a:pPr lvl="1">
              <a:defRPr sz="1800"/>
            </a:pPr>
            <a:r>
              <a:t>• 80文と10文の差は小さい（約0.05 dB）→ 10文程度でも十分な品質が得られる可能性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10エポックの限界</a:t>
            </a:r>
          </a:p>
          <a:p>
            <a:pPr lvl="1">
              <a:defRPr sz="1800"/>
            </a:pPr>
            <a:r>
              <a:t>• 完全な話者適応には不十分（中間的な音程に収束）</a:t>
            </a:r>
          </a:p>
          <a:p>
            <a:pPr lvl="2">
              <a:defRPr sz="1600"/>
            </a:pPr>
            <a:r>
              <a:t>• より多くのエポック数（20-50エポック）が必要と推測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今後の課題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400" b="1"/>
            </a:pPr>
            <a:r>
              <a:t>エポック数の増加</a:t>
            </a:r>
          </a:p>
          <a:p>
            <a:pPr lvl="1">
              <a:defRPr sz="1800"/>
            </a:pPr>
            <a:r>
              <a:t>• 20-50エポック以上の学習を実施し、完全な話者適応が可能かを検証</a:t>
            </a:r>
          </a:p>
          <a:p>
            <a:pPr lvl="2">
              <a:defRPr sz="1600"/>
            </a:pPr>
            <a:r>
              <a:t>• log-F0 RMSEが0.1以下になるかを確認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主観評価の実施</a:t>
            </a:r>
          </a:p>
          <a:p>
            <a:pPr lvl="1">
              <a:defRPr sz="1800"/>
            </a:pPr>
            <a:r>
              <a:t>• MOS（Mean Opinion Score）評価を実施し、客観評価と主観評価の関係を検証</a:t>
            </a:r>
          </a:p>
          <a:p>
            <a:pPr lvl="2">
              <a:defRPr sz="1600"/>
            </a:pPr>
            <a:r>
              <a:t>• 音声の自然さ、話者類似度などの主観的評価を実施</a:t>
            </a:r>
          </a:p>
          <a:p>
            <a:pPr>
              <a:defRPr sz="1200"/>
            </a:pPr>
          </a:p>
          <a:p>
            <a:pPr>
              <a:defRPr sz="2400" b="1"/>
            </a:pPr>
            <a:r>
              <a:t>統計的有意性検定</a:t>
            </a:r>
          </a:p>
          <a:p>
            <a:pPr lvl="1">
              <a:defRPr sz="1800"/>
            </a:pPr>
            <a:r>
              <a:t>• 条件間の差が統計的に有意かどうかを検証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
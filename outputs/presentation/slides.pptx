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少量音素コーパスを用いた</a:t>
            </a:r>
          </a:p>
          <a:p>
            <a:r>
              <a:t>日本語TTS構築実験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音素カバレッジとコーパス設計が品質に与える影響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作成日: 2026年01月22日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背景・研究目的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研究背景</a:t>
            </a:r>
          </a:p>
          <a:p>
            <a:pPr lvl="1">
              <a:defRPr sz="1800"/>
            </a:pPr>
            <a:r>
              <a:t>• 少量データでのTTS fine-tuningの重要性</a:t>
            </a:r>
          </a:p>
          <a:p>
            <a:pPr lvl="1">
              <a:defRPr sz="1800"/>
            </a:pPr>
            <a:r>
              <a:t>• 音素カバレッジとデータ量の最適なバランスを探索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研究目的</a:t>
            </a:r>
          </a:p>
          <a:p>
            <a:pPr lvl="1">
              <a:defRPr sz="1800"/>
            </a:pPr>
            <a:r>
              <a:t>音素カバレッジとコーパス設計（4文 vs 80文など）が、</a:t>
            </a:r>
          </a:p>
          <a:p>
            <a:pPr lvl="1">
              <a:defRPr sz="1800"/>
            </a:pPr>
            <a:r>
              <a:t>fine-tuningされた日本語TTSモデルの出力品質に与える影響を、</a:t>
            </a:r>
          </a:p>
          <a:p>
            <a:pPr lvl="1">
              <a:defRPr sz="1800"/>
            </a:pPr>
            <a:r>
              <a:t>客観指標（MCD, log-F0 RMSE）を用いて明らかにする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実験設計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特徴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E1: 80文コーパス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データ量最大、分布的にバランス良い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E2: 37音素4文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音素カバレッジ最大、データ量最小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E3: ランダム4文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カバレッジ・分布ともに無作為（対照群）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E4: 上位10文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音素特徴量上位10文（情報量重視）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学習設定: ESPnet2-TTS (Tacotron2), 10エポック, テストセット18文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評価指標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MCD (Mel-Cepstral Distortion)</a:t>
            </a:r>
          </a:p>
          <a:p>
            <a:pPr lvl="1">
              <a:defRPr sz="1800"/>
            </a:pPr>
            <a:r>
              <a:t>• スペクトル類似度を測定（低いほど良い）</a:t>
            </a:r>
          </a:p>
          <a:p>
            <a:pPr lvl="2">
              <a:defRPr sz="1600"/>
            </a:pPr>
            <a:r>
              <a:t>• 単位: dB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log-F0 RMSE</a:t>
            </a:r>
          </a:p>
          <a:p>
            <a:pPr lvl="1">
              <a:defRPr sz="1800"/>
            </a:pPr>
            <a:r>
              <a:t>• ピッチ輪郭（基本周波数）の誤差を測定（低いほど良い）</a:t>
            </a:r>
          </a:p>
          <a:p>
            <a:pPr lvl="2">
              <a:defRPr sz="1600"/>
            </a:pPr>
            <a:r>
              <a:t>• DTWアライメントを使用</a:t>
            </a:r>
          </a:p>
          <a:p>
            <a:pPr>
              <a:defRPr sz="1200"/>
            </a:pPr>
          </a:p>
          <a:p>
            <a:pPr>
              <a:defRPr sz="1800" i="1"/>
            </a:pPr>
            <a:r>
              <a:t>テストセット: 18文（全条件共通）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実験結果 - MCD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MCD (dB)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80文コーパス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5.049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37音素4文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5.227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ランダム4文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5.266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上位10文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5.102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mc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解釈: データ量が多いほど品質が向上（80文: 5.049 dB &lt; 4文: 5.227-5.266 dB）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実験結果 - log-F0 RMSE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log-F0 RMSE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80文コーパス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0.2573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37音素4文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0.3364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ランダム4文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0.3296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上位10文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0.2646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解釈: 10エポックでは中間的な音程に収束（完全な話者適応には不十分）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実験結果 - 可視化</a:t>
            </a:r>
          </a:p>
        </p:txBody>
      </p:sp>
      <p:pic>
        <p:nvPicPr>
          <p:cNvPr id="4" name="Picture 3" descr="coverage_vs_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200400"/>
          </a:xfrm>
          <a:prstGeom prst="rect">
            <a:avLst/>
          </a:prstGeom>
        </p:spPr>
      </p:pic>
      <p:pic>
        <p:nvPicPr>
          <p:cNvPr id="5" name="Picture 4" descr="datasize_vs_m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考察（1）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10エポックの限界</a:t>
            </a:r>
          </a:p>
          <a:p>
            <a:pPr lvl="1">
              <a:defRPr sz="1800"/>
            </a:pPr>
            <a:r>
              <a:t>• log-F0 RMSEの結果から、10エポックでは完全な話者適応には不十分</a:t>
            </a:r>
          </a:p>
          <a:p>
            <a:pPr lvl="2">
              <a:defRPr sz="1600"/>
            </a:pPr>
            <a:r>
              <a:t>• ベースラインモデル（高音）とターゲット話者（低音）の中間的な音程に収束</a:t>
            </a:r>
          </a:p>
          <a:p>
            <a:pPr lvl="2">
              <a:defRPr sz="1600"/>
            </a:pPr>
            <a:r>
              <a:t>• 完全な話者適応には、20-50エポック以上の学習が必要と推測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音素カバレッジとデータ量の関係</a:t>
            </a:r>
          </a:p>
          <a:p>
            <a:pPr lvl="1">
              <a:defRPr sz="1800"/>
            </a:pPr>
            <a:r>
              <a:t>• 音素カバレッジ100%でも、データ量が少ない（4文）場合は品質が低下</a:t>
            </a:r>
          </a:p>
          <a:p>
            <a:pPr lvl="2">
              <a:defRPr sz="1600"/>
            </a:pPr>
            <a:r>
              <a:t>• 37音素4文（MCD=5.227 dB）とランダム4文（MCD=5.266 dB）の差は小さい（約0.04 dB）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考察（2）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データ量と品質の関係</a:t>
            </a:r>
          </a:p>
          <a:p>
            <a:pPr lvl="1">
              <a:defRPr sz="1800"/>
            </a:pPr>
            <a:r>
              <a:t>• データ量が増えるほど品質が向上する傾向</a:t>
            </a:r>
          </a:p>
          <a:p>
            <a:pPr lvl="2">
              <a:defRPr sz="1600"/>
            </a:pPr>
            <a:r>
              <a:t>• 80文（MCD=5.049 dB）と10文（MCD=5.102 dB）の差は小さい（約0.05 dB）</a:t>
            </a:r>
          </a:p>
          <a:p>
            <a:pPr lvl="2">
              <a:defRPr sz="1600"/>
            </a:pPr>
            <a:r>
              <a:t>• 10文程度でも十分な品質が得られる可能性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Transfer Learningの特性</a:t>
            </a:r>
          </a:p>
          <a:p>
            <a:pPr lvl="1">
              <a:defRPr sz="1800"/>
            </a:pPr>
            <a:r>
              <a:t>• 事前学習モデル（JSUT話者の高音）とターゲット話者（jvs002の低音）の中間的な特徴空間に収束</a:t>
            </a:r>
          </a:p>
          <a:p>
            <a:pPr lvl="2">
              <a:defRPr sz="1600"/>
            </a:pPr>
            <a:r>
              <a:t>• 少量データでのFine-tuningの限界を示唆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主要な発見</a:t>
            </a:r>
          </a:p>
          <a:p>
            <a:pPr lvl="1">
              <a:defRPr sz="1800"/>
            </a:pPr>
            <a:r>
              <a:t>1. 10エポックでは完全な話者適応には不十分</a:t>
            </a:r>
          </a:p>
          <a:p>
            <a:pPr lvl="2">
              <a:defRPr sz="1600"/>
            </a:pPr>
            <a:r>
              <a:t>   log-F0 RMSEの結果から、音程が中間的になることが数値で裏付けられた</a:t>
            </a:r>
          </a:p>
          <a:p>
            <a:pPr>
              <a:defRPr sz="1200"/>
            </a:pPr>
          </a:p>
          <a:p>
            <a:pPr lvl="1">
              <a:defRPr sz="1800"/>
            </a:pPr>
            <a:r>
              <a:t>2. 音素カバレッジ100%でもデータ量が少ない（4文）場合は品質が低下</a:t>
            </a:r>
          </a:p>
          <a:p>
            <a:pPr lvl="2">
              <a:defRPr sz="1600"/>
            </a:pPr>
            <a:r>
              <a:t>   データ量が多い（80文）場合は、音素カバレッジが100%でなくても品質が高い</a:t>
            </a:r>
          </a:p>
          <a:p>
            <a:pPr>
              <a:defRPr sz="1200"/>
            </a:pPr>
          </a:p>
          <a:p>
            <a:pPr lvl="1">
              <a:defRPr sz="1800"/>
            </a:pPr>
            <a:r>
              <a:t>3. 10文程度でも十分な品質が得られる可能性</a:t>
            </a:r>
          </a:p>
          <a:p>
            <a:pPr lvl="2">
              <a:defRPr sz="1600"/>
            </a:pPr>
            <a:r>
              <a:t>   80文と10文の差は小さい（約0.05 dB）ことから、実用的な最小データ量として有望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今後の課題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エポック数の増加</a:t>
            </a:r>
          </a:p>
          <a:p>
            <a:pPr lvl="1">
              <a:defRPr sz="1800"/>
            </a:pPr>
            <a:r>
              <a:t>• 20-50エポック以上の学習を実施し、完全な話者適応が可能かを検証</a:t>
            </a:r>
          </a:p>
          <a:p>
            <a:pPr lvl="2">
              <a:defRPr sz="1600"/>
            </a:pPr>
            <a:r>
              <a:t>• log-F0 RMSEが0.1以下になるかを確認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主観評価の実施</a:t>
            </a:r>
          </a:p>
          <a:p>
            <a:pPr lvl="1">
              <a:defRPr sz="1800"/>
            </a:pPr>
            <a:r>
              <a:t>• MOS（Mean Opinion Score）評価を実施し、客観評価と主観評価の関係を検証</a:t>
            </a:r>
          </a:p>
          <a:p>
            <a:pPr lvl="2">
              <a:defRPr sz="1600"/>
            </a:pPr>
            <a:r>
              <a:t>• 音声の自然さ、話者類似度などの主観的評価を実施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統計的有意性検定</a:t>
            </a:r>
          </a:p>
          <a:p>
            <a:pPr lvl="1">
              <a:defRPr sz="1800"/>
            </a:pPr>
            <a:r>
              <a:t>• 条件間の差が統計的に有意かどうかを検証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